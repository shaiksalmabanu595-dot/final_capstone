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640080"/>
            <a:ext cx="1554480" cy="1554480"/>
          </a:xfrm>
          <a:prstGeom prst="ellipse">
            <a:avLst/>
          </a:prstGeom>
          <a:solidFill>
            <a:srgbClr val="1E3A4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8686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MedReliAI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Medical Equipment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Intelligence Assistant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3657600" cy="36576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· RAG pipeline · Multi-agent analysis · GPT-4o-mini guardrails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886200"/>
            <a:ext cx="1920240" cy="868680"/>
          </a:xfrm>
          <a:prstGeom prst="rect">
            <a:avLst/>
          </a:prstGeom>
          <a:solidFill>
            <a:srgbClr val="1E3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39136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57200" y="4325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indexed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606040" y="3886200"/>
            <a:ext cx="1920240" cy="868680"/>
          </a:xfrm>
          <a:prstGeom prst="rect">
            <a:avLst/>
          </a:prstGeom>
          <a:solidFill>
            <a:srgbClr val="1E3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606040" y="39136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2606040" y="4325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3886200"/>
            <a:ext cx="1920240" cy="868680"/>
          </a:xfrm>
          <a:prstGeom prst="rect">
            <a:avLst/>
          </a:prstGeom>
          <a:solidFill>
            <a:srgbClr val="1E3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54880" y="39136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754880" y="4325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stages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03720" y="3886200"/>
            <a:ext cx="1920240" cy="868680"/>
          </a:xfrm>
          <a:prstGeom prst="rect">
            <a:avLst/>
          </a:prstGeom>
          <a:solidFill>
            <a:srgbClr val="1E3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03720" y="391363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903720" y="4325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types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manage hundreds of devices — but maintenance data is scattered and analysis is manual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640080" cy="64008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5623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642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202996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logs, telemetry, and service records spread across multiple disconnected systems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783080"/>
            <a:ext cx="640080" cy="64008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85623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6642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Diagnosis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23560" y="202996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hours manually searching logs to find similar past incidents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0632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2920" y="3383280"/>
            <a:ext cx="640080" cy="64008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45643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2644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Pattern Detection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25880" y="363016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connects current failures to historical patterns across devices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0632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3383280"/>
            <a:ext cx="640080" cy="64008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45643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2644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Maintenance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23560" y="363016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maintenance is reactive — equipment fails before issues are caught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MedReliAI — One natural language query. Full AI-powered maintenance intelligence.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2697480" cy="1508760"/>
          </a:xfrm>
          <a:prstGeom prst="rect">
            <a:avLst/>
          </a:prstGeom>
          <a:solidFill>
            <a:srgbClr val="1E3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594360" cy="594360"/>
          </a:xfrm>
          <a:prstGeom prst="ellipse">
            <a:avLst/>
          </a:prstGeom>
          <a:solidFill>
            <a:srgbClr val="0D213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6479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00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88720" y="201168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equipment issue in natural language — no complex query syntax needed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417320"/>
            <a:ext cx="2697480" cy="1508760"/>
          </a:xfrm>
          <a:prstGeom prst="rect">
            <a:avLst/>
          </a:prstGeom>
          <a:solidFill>
            <a:srgbClr val="1E3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691640"/>
            <a:ext cx="594360" cy="594360"/>
          </a:xfrm>
          <a:prstGeom prst="ellipse">
            <a:avLst/>
          </a:prstGeom>
          <a:solidFill>
            <a:srgbClr val="0D213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764792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600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069080" y="201168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vector + keyword search retrieves the most similar historical incidents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80760" y="1417320"/>
            <a:ext cx="2697480" cy="1508760"/>
          </a:xfrm>
          <a:prstGeom prst="rect">
            <a:avLst/>
          </a:prstGeom>
          <a:solidFill>
            <a:srgbClr val="1E3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691640"/>
            <a:ext cx="594360" cy="594360"/>
          </a:xfrm>
          <a:prstGeom prst="ellipse">
            <a:avLst/>
          </a:prstGeom>
          <a:solidFill>
            <a:srgbClr val="0D213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764792"/>
            <a:ext cx="448056" cy="4480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600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4-Agent Pipeline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949440" y="201168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→ Reliability → Maintenance → Recommendation agents work in sequence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0040" y="3081528"/>
            <a:ext cx="2697480" cy="1508760"/>
          </a:xfrm>
          <a:prstGeom prst="rect">
            <a:avLst/>
          </a:prstGeom>
          <a:solidFill>
            <a:srgbClr val="1E3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355848"/>
            <a:ext cx="594360" cy="594360"/>
          </a:xfrm>
          <a:prstGeom prst="ellipse">
            <a:avLst/>
          </a:prstGeom>
          <a:solidFill>
            <a:srgbClr val="0D213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429000"/>
            <a:ext cx="448056" cy="4480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264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Guardrails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88720" y="367588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validates every query input and every recommendation output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0" y="3081528"/>
            <a:ext cx="2697480" cy="1508760"/>
          </a:xfrm>
          <a:prstGeom prst="rect">
            <a:avLst/>
          </a:prstGeom>
          <a:solidFill>
            <a:srgbClr val="1E3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37560" y="3355848"/>
            <a:ext cx="594360" cy="594360"/>
          </a:xfrm>
          <a:prstGeom prst="ellipse">
            <a:avLst/>
          </a:prstGeom>
          <a:solidFill>
            <a:srgbClr val="0D213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429000"/>
            <a:ext cx="448056" cy="4480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264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069080" y="367588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MaintenanceAgent identifies probable failure cause with evidence and confidence score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80760" y="3081528"/>
            <a:ext cx="2697480" cy="1508760"/>
          </a:xfrm>
          <a:prstGeom prst="rect">
            <a:avLst/>
          </a:prstGeom>
          <a:solidFill>
            <a:srgbClr val="1E3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355848"/>
            <a:ext cx="594360" cy="594360"/>
          </a:xfrm>
          <a:prstGeom prst="ellipse">
            <a:avLst/>
          </a:prstGeom>
          <a:solidFill>
            <a:srgbClr val="0D213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429000"/>
            <a:ext cx="448056" cy="4480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264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Guidance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949440" y="367588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prioritized corrective actions + PM checklist revisions + escalation alerts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50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834640" y="8503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AI4I CSV · Device Logs · Maintenance Records · Service History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1325880"/>
            <a:ext cx="0" cy="9144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31673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7E8C"/>
                </a:solidFill>
              </a:rPr>
              <a:t>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832104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44475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→ Chunker (256 token / 64 overlap) → Embedder → Metadata Tagger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920240"/>
            <a:ext cx="0" cy="9144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91109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7E8C"/>
                </a:solidFill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011680"/>
            <a:ext cx="8321040" cy="50292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39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Storage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03911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(vectors)     Elasticsearch (BM25)     PostgreSQL (metadata)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514600"/>
            <a:ext cx="0" cy="9144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5054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7E8C"/>
                </a:solidFill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606040"/>
            <a:ext cx="832104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33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263347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+ BM25 → Reciprocal Rank Fusion → Cross-Encoder Reranker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108960"/>
            <a:ext cx="0" cy="9144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3099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7E8C"/>
                </a:solidFill>
              </a:rPr>
              <a:t>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200400"/>
            <a:ext cx="8321040" cy="502920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322783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Agent → Reliability Agent → Maintenance Agent → Recommendation Agent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703320"/>
            <a:ext cx="0" cy="9144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36941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7E8C"/>
                </a:solidFill>
              </a:rPr>
              <a:t>▼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794760"/>
            <a:ext cx="8321040" cy="502920"/>
          </a:xfrm>
          <a:prstGeom prst="rect">
            <a:avLst/>
          </a:prstGeom>
          <a:solidFill>
            <a:srgbClr val="E0F2F1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822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834640" y="38221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API     Streamlit Dashboard     Alerts     History (PostgreSQL)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4389120"/>
            <a:ext cx="8321040" cy="548640"/>
          </a:xfrm>
          <a:prstGeom prst="rect">
            <a:avLst/>
          </a:prstGeom>
          <a:solidFill>
            <a:srgbClr val="FFF8E1"/>
          </a:solidFill>
          <a:ln w="19050">
            <a:solidFill>
              <a:srgbClr val="E85D0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4531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GPT-4o-mini Guardrails  —  Input Guardrail (before pipeline) + Output Guardrail (after recommendation)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Query to Answer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1965960" cy="1554480"/>
          </a:xfrm>
          <a:prstGeom prst="rect">
            <a:avLst/>
          </a:prstGeom>
          <a:solidFill>
            <a:srgbClr val="1E3A4F"/>
          </a:solidFill>
          <a:ln w="1905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33272" y="1078992"/>
            <a:ext cx="530352" cy="530352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" y="109728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Query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03911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entered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Streamlit UI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86000" y="1645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A7E8C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65960" cy="1554480"/>
          </a:xfrm>
          <a:prstGeom prst="rect">
            <a:avLst/>
          </a:prstGeom>
          <a:solidFill>
            <a:srgbClr val="1E3A4F"/>
          </a:solidFill>
          <a:ln w="1905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078992"/>
            <a:ext cx="530352" cy="530352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1" name="Text 9"/>
          <p:cNvSpPr/>
          <p:nvPr/>
        </p:nvSpPr>
        <p:spPr>
          <a:xfrm>
            <a:off x="3182112" y="109728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16916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03911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checks relevance,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&amp; scope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34840" y="1645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5D04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17720" y="1005840"/>
            <a:ext cx="1965960" cy="1554480"/>
          </a:xfrm>
          <a:prstGeom prst="rect">
            <a:avLst/>
          </a:prstGeom>
          <a:solidFill>
            <a:srgbClr val="1E3A4F"/>
          </a:solidFill>
          <a:ln w="19050">
            <a:solidFill>
              <a:srgbClr val="6A5AC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30952" y="1078992"/>
            <a:ext cx="530352" cy="530352"/>
          </a:xfrm>
          <a:prstGeom prst="ellipse">
            <a:avLst/>
          </a:prstGeom>
          <a:solidFill>
            <a:srgbClr val="6A5ACD"/>
          </a:solidFill>
          <a:ln/>
        </p:spPr>
      </p:sp>
      <p:sp>
        <p:nvSpPr>
          <p:cNvPr id="17" name="Text 15"/>
          <p:cNvSpPr/>
          <p:nvPr/>
        </p:nvSpPr>
        <p:spPr>
          <a:xfrm>
            <a:off x="5330952" y="109728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09160" y="16916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03911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search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BM25 + RRF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0" y="16459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A5ACD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66560" y="1005840"/>
            <a:ext cx="1965960" cy="1554480"/>
          </a:xfrm>
          <a:prstGeom prst="rect">
            <a:avLst/>
          </a:prstGeom>
          <a:solidFill>
            <a:srgbClr val="1E3A4F"/>
          </a:solidFill>
          <a:ln w="1905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79792" y="1078992"/>
            <a:ext cx="530352" cy="530352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23" name="Text 21"/>
          <p:cNvSpPr/>
          <p:nvPr/>
        </p:nvSpPr>
        <p:spPr>
          <a:xfrm>
            <a:off x="7479792" y="109728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58000" y="16916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Agent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03911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anomaly detection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5 telemetry fields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926080"/>
            <a:ext cx="1965960" cy="1554480"/>
          </a:xfrm>
          <a:prstGeom prst="rect">
            <a:avLst/>
          </a:prstGeom>
          <a:solidFill>
            <a:srgbClr val="1E3A4F"/>
          </a:solidFill>
          <a:ln w="19050">
            <a:solidFill>
              <a:srgbClr val="E040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33272" y="2999232"/>
            <a:ext cx="530352" cy="530352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28" name="Text 26"/>
          <p:cNvSpPr/>
          <p:nvPr/>
        </p:nvSpPr>
        <p:spPr>
          <a:xfrm>
            <a:off x="1033272" y="301752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11480" y="3611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Agent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9593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root cause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with evidence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86000" y="3566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40FB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468880" y="2926080"/>
            <a:ext cx="1965960" cy="1554480"/>
          </a:xfrm>
          <a:prstGeom prst="rect">
            <a:avLst/>
          </a:prstGeom>
          <a:solidFill>
            <a:srgbClr val="1E3A4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82112" y="2999232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3182112" y="301752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560320" y="3611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Agent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60320" y="39593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prioritized actions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checklist + escalation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434840" y="3566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617720" y="2926080"/>
            <a:ext cx="1965960" cy="1554480"/>
          </a:xfrm>
          <a:prstGeom prst="rect">
            <a:avLst/>
          </a:prstGeom>
          <a:solidFill>
            <a:srgbClr val="1E3A4F"/>
          </a:solidFill>
          <a:ln w="1905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330952" y="2999232"/>
            <a:ext cx="530352" cy="530352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40" name="Text 38"/>
          <p:cNvSpPr/>
          <p:nvPr/>
        </p:nvSpPr>
        <p:spPr>
          <a:xfrm>
            <a:off x="5330952" y="301752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709160" y="3611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39593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grounding check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showing to engineer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0" y="3566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5D04"/>
                </a:solidFill>
              </a:rPr>
              <a:t>→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766560" y="2926080"/>
            <a:ext cx="1965960" cy="1554480"/>
          </a:xfrm>
          <a:prstGeom prst="rect">
            <a:avLst/>
          </a:prstGeom>
          <a:solidFill>
            <a:srgbClr val="1E3A4F"/>
          </a:solidFill>
          <a:ln w="19050">
            <a:solidFill>
              <a:srgbClr val="29B6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79792" y="2999232"/>
            <a:ext cx="530352" cy="530352"/>
          </a:xfrm>
          <a:prstGeom prst="ellipse">
            <a:avLst/>
          </a:prstGeom>
          <a:solidFill>
            <a:srgbClr val="29B6F6"/>
          </a:solidFill>
          <a:ln/>
        </p:spPr>
      </p:sp>
      <p:sp>
        <p:nvSpPr>
          <p:cNvPr id="46" name="Text 44"/>
          <p:cNvSpPr/>
          <p:nvPr/>
        </p:nvSpPr>
        <p:spPr>
          <a:xfrm>
            <a:off x="7479792" y="3017520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858000" y="36118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History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58000" y="395935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shown in UI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PostgreSQL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434840" y="25146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Intelligence Pipeline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LangGraph — conditional routing, shared state, early exit on guardrail block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659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196596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353312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92024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+ ES BM25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RRF fusion + Reranker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127248"/>
            <a:ext cx="141732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45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call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31720" y="23317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E8C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60320" y="1325880"/>
            <a:ext cx="19659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325880"/>
            <a:ext cx="196596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2633472" y="1353312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70048" y="192024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on air temp, process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speed, torque,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34640" y="3127248"/>
            <a:ext cx="141732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3145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call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23317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E8C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54880" y="1325880"/>
            <a:ext cx="19659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880E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325880"/>
            <a:ext cx="1965960" cy="50292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20" name="Text 18"/>
          <p:cNvSpPr/>
          <p:nvPr/>
        </p:nvSpPr>
        <p:spPr>
          <a:xfrm>
            <a:off x="4828032" y="1353312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192024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+ evidence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score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0" y="3127248"/>
            <a:ext cx="1417320" cy="320040"/>
          </a:xfrm>
          <a:prstGeom prst="rect">
            <a:avLst/>
          </a:prstGeom>
          <a:solidFill>
            <a:srgbClr val="EDE7F6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145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20840" y="23317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E8C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949440" y="1325880"/>
            <a:ext cx="19659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9440" y="1325880"/>
            <a:ext cx="1965960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7022592" y="1353312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Agent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59168" y="1920240"/>
            <a:ext cx="1746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actions + PM checklist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escalation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23760" y="3127248"/>
            <a:ext cx="1417320" cy="320040"/>
          </a:xfrm>
          <a:prstGeom prst="rect">
            <a:avLst/>
          </a:prstGeom>
          <a:solidFill>
            <a:srgbClr val="EDE7F6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3145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0" y="1097280"/>
            <a:ext cx="1828800" cy="320040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MAIN AGENT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886200"/>
            <a:ext cx="841248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931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Shared State (MedRaiState)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2336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· normalized_query · incidents · anomaly_report · root_cause · recommendation · escalation_required · tokens_used · pipeline_status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— How Data Flows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840480" cy="3886200"/>
          </a:xfrm>
          <a:prstGeom prst="rect">
            <a:avLst/>
          </a:prstGeom>
          <a:solidFill>
            <a:srgbClr val="1E3A4F"/>
          </a:solidFill>
          <a:ln w="1905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9875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 (Offline)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Load AI4I CSV  (10,000 rows)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92938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Validate each row (schema + ranges)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44144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 text representation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95351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Slide window chunk  (256T / 64T overlap)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346557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OpenAI embed  (text-embedding-3-small)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97764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Upsert → ChromaDB + ES + PostgreSQL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37760" y="914400"/>
            <a:ext cx="3840480" cy="3886200"/>
          </a:xfrm>
          <a:prstGeom prst="rect">
            <a:avLst/>
          </a:prstGeom>
          <a:solidFill>
            <a:srgbClr val="1E3A4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9875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 (Query time)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4173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Embed query  (same model)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74920" y="192938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ChromaDB cosine similarity search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74920" y="244144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Elasticsearch BM25 keyword search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4920" y="295351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Reciprocal Rank Fusion (k=60)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4920" y="346557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Cross-encoder reranking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74920" y="397764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Top 8 incidents → LLM context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solidFill>
            <a:srgbClr val="0A3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84632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hybrid? BM25 catches exact equipment IDs &amp; numeric codes that dense embeddings underweight. RRF merges both lists without manual weight tuning.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Guardrails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safety layers — one before the pipeline, one after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776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85D0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3977640" cy="475488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6187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Input Guardrail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rule-based pre-check (no LLM cost)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query &lt; 5 chars or &gt; 500 chars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injection patterns instantly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8254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GPT-4o-mini: relevance check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1638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GPT-4o-mini: PII detection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5021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GPT-4o-mini: out-of-scope filtering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minor spelling issues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1788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HTTP 400 + reason + flags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1234440"/>
            <a:ext cx="397764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234440"/>
            <a:ext cx="3977640" cy="47548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26187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Output Guardrail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18105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disabling safety alarms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21488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use of actively failing equipment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24871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hallucinated statistics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28254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out-of-scope clinical actions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31638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contradictory risk assessment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83480" y="35021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flag for life-critical devices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83480" y="38404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sanitized recommendation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3480" y="41788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Fail-open design (stays available)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8006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API key required: OPENAI_API_KEY — ChromaDB runs without auth on internal Docker network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0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chosen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8412480" cy="338328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12984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Python-native, auto docs, async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609344"/>
            <a:ext cx="8412480" cy="338328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1645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build tooling, data components built 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956816"/>
            <a:ext cx="8412480" cy="338328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0.5.3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19933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no auth needed on Docker network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304288"/>
            <a:ext cx="8412480" cy="338328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3408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2340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8.13 (BM25)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234086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IDs, codes, numeric threshold matching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651760"/>
            <a:ext cx="8412480" cy="338328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688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94560" y="2688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26883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history, structured filtering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999232"/>
            <a:ext cx="8412480" cy="338328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035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94560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text-embedding-3-small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30358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1536-dim, cost-effective, high quality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346704"/>
            <a:ext cx="8412480" cy="338328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9456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3383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cheap, JSON mode, good reasoning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694176"/>
            <a:ext cx="8412480" cy="338328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94560" y="3730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0.1.14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3730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routing, shared state, early exit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041648"/>
            <a:ext cx="8412480" cy="338328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4078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194560" y="40782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ms-marco-MiniLM-L-6-v2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0" y="40782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for accurate relevance scoring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389120"/>
            <a:ext cx="8412480" cy="338328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4425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194560" y="4425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+ LLM-as-judge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0" y="442569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relevancy, recall + GPT-4o scoring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4736592"/>
            <a:ext cx="8412480" cy="338328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4773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194560" y="4773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0" y="47731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command startup, isolated services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Coverage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41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1 — Basic  ✅ All done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RAG (FAISS → ChromaDB)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(vector + BM25)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filtering (type/unit/severity)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guardrails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similarity ranking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generation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393192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880E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914400"/>
            <a:ext cx="3931920" cy="438912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941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2 — Advanced  ✅ All done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quality evaluation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1673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correlation (z-score)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9293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(cross-encoder)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1854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validation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441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optimization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Agent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953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Analysis Agent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2095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Agent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34655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Agent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3721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frontend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Features — Partially implemented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Analytics dashboard   ✅ Query history (PostgreSQL)   ✅ Maintenance prioritization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Predictive downtime alerts (tool wear tiers done, no background scheduler)   ⚠️ Feedback loop (not yet)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Demo Flow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280160" cy="50292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min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0" y="960120"/>
            <a:ext cx="7132320" cy="502920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6" name="Text 4"/>
          <p:cNvSpPr/>
          <p:nvPr/>
        </p:nvSpPr>
        <p:spPr>
          <a:xfrm>
            <a:off x="1783080" y="9966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216152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scattered maintenance data problem. Biomedical engineers waste hours manually searching logs.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45336"/>
            <a:ext cx="128016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910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1545336"/>
            <a:ext cx="7132320" cy="502920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15819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ingestion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1801368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AI4I dataset — 10K rows, 5 telemetry features. Show ingestion pipeline: CSV → chunks → ChromaDB + 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130552"/>
            <a:ext cx="1280160" cy="5029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762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45920" y="2130552"/>
            <a:ext cx="7132320" cy="502920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16" name="Text 14"/>
          <p:cNvSpPr/>
          <p:nvPr/>
        </p:nvSpPr>
        <p:spPr>
          <a:xfrm>
            <a:off x="1783080" y="21671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walkthrough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2386584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top-to-bottom through the architecture diagram. Highlight hybrid retrieval and guardrail layers.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715768"/>
            <a:ext cx="1280160" cy="5029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76148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0" y="2715768"/>
            <a:ext cx="7132320" cy="502920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21" name="Text 19"/>
          <p:cNvSpPr/>
          <p:nvPr/>
        </p:nvSpPr>
        <p:spPr>
          <a:xfrm>
            <a:off x="1783080" y="2752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demo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2971800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MRI downtime query. Watch 4 agents animate. Show incident list, root cause, recommendations.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300984"/>
            <a:ext cx="1280160" cy="5029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34670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45920" y="3300984"/>
            <a:ext cx="7132320" cy="502920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26" name="Text 24"/>
          <p:cNvSpPr/>
          <p:nvPr/>
        </p:nvSpPr>
        <p:spPr>
          <a:xfrm>
            <a:off x="1783080" y="33375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demo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83080" y="3557016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injection attempt → show HTTP 400 block. Run ventilator power failure → show escalation banner.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886200"/>
            <a:ext cx="128016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9319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 min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45920" y="3886200"/>
            <a:ext cx="7132320" cy="502920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31" name="Text 29"/>
          <p:cNvSpPr/>
          <p:nvPr/>
        </p:nvSpPr>
        <p:spPr>
          <a:xfrm>
            <a:off x="1783080" y="39227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scores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83080" y="4142232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DeepEval: Faithfulness, Answer Relevancy, Contextual Recall. LLM-as-judge clinical score.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471416"/>
            <a:ext cx="128016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5171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 min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45920" y="4471416"/>
            <a:ext cx="7132320" cy="502920"/>
          </a:xfrm>
          <a:prstGeom prst="rect">
            <a:avLst/>
          </a:prstGeom>
          <a:solidFill>
            <a:srgbClr val="1E3A4F"/>
          </a:solidFill>
          <a:ln/>
        </p:spPr>
      </p:sp>
      <p:sp>
        <p:nvSpPr>
          <p:cNvPr id="36" name="Text 34"/>
          <p:cNvSpPr/>
          <p:nvPr/>
        </p:nvSpPr>
        <p:spPr>
          <a:xfrm>
            <a:off x="1783080" y="45079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 Q&amp;A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783080" y="4727448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sentence: ChromaDB + ES + RRF + LangGraph + GPT-4o-mini + Streamlit. Open for panel questions.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MedReliAI — AI-Powered Medical Equipment Reliability Intelligence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542032"/>
            <a:ext cx="4114800" cy="36576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 + Docker Compose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136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(vector) + Elasticsearch (BM25) + RRF + Cross-encoder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4838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pipeline (4 agents)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8313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— LLM inference + dual guardrails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178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+ LLM-as-judge quality evaluation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query history — persisted across sessions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42062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MedReliAI — Medical Equipment Reliability Intelligence</dc:title>
  <dc:subject>PptxGenJS Presentation</dc:subject>
  <dc:creator>Biomedical Engineering Team</dc:creator>
  <cp:lastModifiedBy>Biomedical Engineering Team</cp:lastModifiedBy>
  <cp:revision>1</cp:revision>
  <dcterms:created xsi:type="dcterms:W3CDTF">2026-06-06T13:29:45Z</dcterms:created>
  <dcterms:modified xsi:type="dcterms:W3CDTF">2026-06-06T13:29:45Z</dcterms:modified>
</cp:coreProperties>
</file>