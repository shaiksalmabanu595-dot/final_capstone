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41248"/>
            <a:ext cx="78638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8046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AI-Powered Medical Equipment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335024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6B6D4"/>
                </a:solidFill>
              </a:rPr>
              <a:t>Reliability Intelligence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93852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AE8"/>
                </a:solidFill>
              </a:rPr>
              <a:t>Architecture, Data Flow &amp; System 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87168"/>
            <a:ext cx="112471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670048"/>
            <a:ext cx="2084831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706624"/>
            <a:ext cx="1901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LangGraph Multi-Agent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06624" y="2670048"/>
            <a:ext cx="2084831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98064" y="2706624"/>
            <a:ext cx="1901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GPT-4o mini Guardrails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2670048"/>
            <a:ext cx="2084831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47488" y="2706624"/>
            <a:ext cx="1901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Hybrid RAG (FAISS + BM25)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5472" y="2670048"/>
            <a:ext cx="2084831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96912" y="2706624"/>
            <a:ext cx="1901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DeepEval + LLM-as-Judge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54896" y="2670048"/>
            <a:ext cx="2084831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46336" y="2706624"/>
            <a:ext cx="1901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UCI AI4I 2020 Dataset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2636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A9ABF"/>
                </a:solidFill>
              </a:rPr>
              <a:t>Capstone Project  •  Biomedical Engineering AI  •  React + FastAPI + LangGraph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System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4747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</a:rPr>
              <a:t>Three-tier architecture: React Frontend → FastAPI Backend → Data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49808"/>
            <a:ext cx="3291840" cy="54864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749808"/>
            <a:ext cx="3291840" cy="42062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FRONTEND  (React + Vite)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61872"/>
            <a:ext cx="3017520" cy="658368"/>
          </a:xfrm>
          <a:prstGeom prst="rect">
            <a:avLst/>
          </a:prstGeom>
          <a:solidFill>
            <a:srgbClr val="F1F5F9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3075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3A5F"/>
                </a:solidFill>
              </a:rPr>
              <a:t>📊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5727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Stats, charts, failure rates, monthly trends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011679"/>
            <a:ext cx="3017520" cy="658368"/>
          </a:xfrm>
          <a:prstGeom prst="rect">
            <a:avLst/>
          </a:prstGeom>
          <a:solidFill>
            <a:srgbClr val="F1F5F9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2057399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3A5F"/>
                </a:solidFill>
              </a:rPr>
              <a:t>💬 AI Assistant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2322575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LangGraph chat + guardrail badges + logs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761487"/>
            <a:ext cx="3017520" cy="658368"/>
          </a:xfrm>
          <a:prstGeom prst="rect">
            <a:avLst/>
          </a:prstGeom>
          <a:solidFill>
            <a:srgbClr val="F1F5F9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2807207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3A5F"/>
                </a:solidFill>
              </a:rPr>
              <a:t>📋 Maintenance 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3072383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Paginated, filterable incident table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511295"/>
            <a:ext cx="3017520" cy="658368"/>
          </a:xfrm>
          <a:prstGeom prst="rect">
            <a:avLst/>
          </a:prstGeom>
          <a:solidFill>
            <a:srgbClr val="F1F5F9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3557015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3A5F"/>
                </a:solidFill>
              </a:rPr>
              <a:t>🚨 Anomaly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382219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Temp / wear / RPM anomaly analysis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261103"/>
            <a:ext cx="3017520" cy="658368"/>
          </a:xfrm>
          <a:prstGeom prst="rect">
            <a:avLst/>
          </a:prstGeom>
          <a:solidFill>
            <a:srgbClr val="F1F5F9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4306823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3A5F"/>
                </a:solidFill>
              </a:rPr>
              <a:t>🔗 LangGraph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" y="457199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Topology diagram + guardrail tester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010912"/>
            <a:ext cx="3017520" cy="658368"/>
          </a:xfrm>
          <a:prstGeom prst="rect">
            <a:avLst/>
          </a:prstGeom>
          <a:solidFill>
            <a:srgbClr val="F1F5F9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5056631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3A5F"/>
                </a:solidFill>
              </a:rPr>
              <a:t>✅ Evaluation &amp; Judge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532180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DeepEval metrics + LLM-as-judge scores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2152" y="329184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Axios  /  CORS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2152" y="3493008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749808"/>
            <a:ext cx="4754880" cy="5486400"/>
          </a:xfrm>
          <a:prstGeom prst="rect">
            <a:avLst/>
          </a:prstGeom>
          <a:solidFill>
            <a:srgbClr val="FFFFFF"/>
          </a:solidFill>
          <a:ln w="152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703320" y="749808"/>
            <a:ext cx="4754880" cy="42062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0" y="804672"/>
            <a:ext cx="4480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BACKEND  (FastAPI + Python)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0" y="1261872"/>
            <a:ext cx="4526280" cy="658368"/>
          </a:xfrm>
          <a:prstGeom prst="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50208" y="1307592"/>
            <a:ext cx="4297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</a:rPr>
              <a:t>POST /api/query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50208" y="15544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Full LangGraph pipeline analysis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2011679"/>
            <a:ext cx="4526280" cy="658368"/>
          </a:xfrm>
          <a:prstGeom prst="rect">
            <a:avLst/>
          </a:prstGeom>
          <a:solidFill>
            <a:srgbClr val="F1F5F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50208" y="2057399"/>
            <a:ext cx="4297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B981"/>
                </a:solidFill>
              </a:rPr>
              <a:t>GET  /api/equipment/stats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50208" y="2304287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Dataset stats + chart data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0" y="2761487"/>
            <a:ext cx="4526280" cy="658368"/>
          </a:xfrm>
          <a:prstGeom prst="rect">
            <a:avLst/>
          </a:prstGeom>
          <a:solidFill>
            <a:srgbClr val="F1F5F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50208" y="2807207"/>
            <a:ext cx="4297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B981"/>
                </a:solidFill>
              </a:rPr>
              <a:t>GET  /api/maintenance/incidents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50208" y="3054095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Paginated incident records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0" y="3511295"/>
            <a:ext cx="4526280" cy="658368"/>
          </a:xfrm>
          <a:prstGeom prst="rect">
            <a:avLst/>
          </a:prstGeom>
          <a:solidFill>
            <a:srgbClr val="F1F5F9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50208" y="3557015"/>
            <a:ext cx="4297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</a:rPr>
              <a:t>POST /api/analyze/anomaly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50208" y="3803903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Anomaly detection engine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0" y="4261103"/>
            <a:ext cx="4526280" cy="658368"/>
          </a:xfrm>
          <a:prstGeom prst="rect">
            <a:avLst/>
          </a:prstGeom>
          <a:solidFill>
            <a:srgbClr val="F1F5F9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50208" y="4306823"/>
            <a:ext cx="4297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C3AED"/>
                </a:solidFill>
              </a:rPr>
              <a:t>POST /api/evaluate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50208" y="455371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DeepEval + LLM-as-judge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40480" y="5010912"/>
            <a:ext cx="4526280" cy="658368"/>
          </a:xfrm>
          <a:prstGeom prst="rect">
            <a:avLst/>
          </a:prstGeom>
          <a:solidFill>
            <a:srgbClr val="F1F5F9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50208" y="5056631"/>
            <a:ext cx="4297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F4444"/>
                </a:solidFill>
              </a:rPr>
              <a:t>POST /api/guardrail/validate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50208" y="53035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Standalone guardrail test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40480" y="5760720"/>
            <a:ext cx="4526280" cy="658368"/>
          </a:xfrm>
          <a:prstGeom prst="rect">
            <a:avLst/>
          </a:prstGeom>
          <a:solidFill>
            <a:srgbClr val="F1F5F9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50208" y="5806440"/>
            <a:ext cx="4297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6B6D4"/>
                </a:solidFill>
              </a:rPr>
              <a:t>GET  /api/pipeline/schema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50208" y="605332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LangGraph topology JSON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85632" y="349300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32520" y="749808"/>
            <a:ext cx="3246120" cy="548640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732520" y="749808"/>
            <a:ext cx="3246120" cy="42062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869680" y="804672"/>
            <a:ext cx="2971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DATA LAYER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869680" y="1261872"/>
            <a:ext cx="2971800" cy="749808"/>
          </a:xfrm>
          <a:prstGeom prst="rect">
            <a:avLst/>
          </a:prstGeom>
          <a:solidFill>
            <a:srgbClr val="F1F5F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79408" y="131673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🗄  ai4i2020.csv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79408" y="1591055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UCI AI4I 2020 schema
10,000 rows × 14 cols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869680" y="2103120"/>
            <a:ext cx="2971800" cy="749808"/>
          </a:xfrm>
          <a:prstGeom prst="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79408" y="215798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</a:rPr>
              <a:t>🔍  FAISS Index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79408" y="2432303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IndexFlatIP · 10k × 384-dim
15 MB on disk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869680" y="2944368"/>
            <a:ext cx="2971800" cy="749808"/>
          </a:xfrm>
          <a:prstGeom prst="rect">
            <a:avLst/>
          </a:prstGeom>
          <a:solidFill>
            <a:srgbClr val="F1F5F9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979408" y="29992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📝  BM25 Index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79408" y="3273551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BM25Okapi keyword index
All 10k docs tokenised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869680" y="3785615"/>
            <a:ext cx="2971800" cy="749808"/>
          </a:xfrm>
          <a:prstGeom prst="rect">
            <a:avLst/>
          </a:prstGeom>
          <a:solidFill>
            <a:srgbClr val="F1F5F9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979408" y="3840479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</a:rPr>
              <a:t>📦  Embeddings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79408" y="41148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all-MiniLM-L6-v2
10k × 384 float32 .npy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869680" y="4626864"/>
            <a:ext cx="2971800" cy="749808"/>
          </a:xfrm>
          <a:prstGeom prst="rect">
            <a:avLst/>
          </a:prstGeom>
          <a:solidFill>
            <a:srgbClr val="F1F5F9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979408" y="4681727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⚙   LangGraph State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79408" y="495604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MedEquipState TypedDict
17 fields per pipeline run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869680" y="5468112"/>
            <a:ext cx="2971800" cy="749808"/>
          </a:xfrm>
          <a:prstGeom prst="rect">
            <a:avLst/>
          </a:prstGeom>
          <a:solidFill>
            <a:srgbClr val="F1F5F9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979408" y="5522975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</a:rPr>
              <a:t>💊  Enriched CSV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79408" y="579729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medical_equipment_maintenance.csv
32 columns total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LangGraph Multi-Agent Pipeline — State Machine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4747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6B6D4"/>
                </a:solidFill>
              </a:rPr>
              <a:t>StateGraph · 8 nodes · Conditional routing (VALID/INVALID) · TypedDict state passed between all nodes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2331720"/>
            <a:ext cx="50292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239572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START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176272"/>
            <a:ext cx="141732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286000"/>
            <a:ext cx="1271016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Input
Guardrail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2176272"/>
            <a:ext cx="1417320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24912" y="2286000"/>
            <a:ext cx="1271016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RAG
Retrieval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176272"/>
            <a:ext cx="141732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2286000"/>
            <a:ext cx="1271016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Retrieval
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176272"/>
            <a:ext cx="146304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9632" y="2286000"/>
            <a:ext cx="1316736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Reliability
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09560" y="2176272"/>
            <a:ext cx="146304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82712" y="2286000"/>
            <a:ext cx="1316736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Maintenance
Agent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0" y="2176272"/>
            <a:ext cx="146304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65792" y="2286000"/>
            <a:ext cx="1316736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Recommendation
Agent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75720" y="2176272"/>
            <a:ext cx="59436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548872" y="2286000"/>
            <a:ext cx="448056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Output
Guardrail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2560320"/>
            <a:ext cx="320039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331720" y="2560320"/>
            <a:ext cx="32004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069080" y="2560320"/>
            <a:ext cx="32004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806440" y="2560320"/>
            <a:ext cx="320039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589520" y="2560320"/>
            <a:ext cx="32004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372600" y="2560320"/>
            <a:ext cx="32004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1201400" y="2560320"/>
            <a:ext cx="32004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1932920" y="2331720"/>
            <a:ext cx="210312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932920" y="2395728"/>
            <a:ext cx="21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END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3794760"/>
            <a:ext cx="1417320" cy="594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" y="3840480"/>
            <a:ext cx="1280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Rejection
Node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4617720"/>
            <a:ext cx="73152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663440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END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618488" y="2953512"/>
            <a:ext cx="0" cy="841248"/>
          </a:xfrm>
          <a:prstGeom prst="line">
            <a:avLst/>
          </a:prstGeom>
          <a:ln w="1905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1280160" y="4389120"/>
            <a:ext cx="338328" cy="228600"/>
          </a:xfrm>
          <a:prstGeom prst="line">
            <a:avLst/>
          </a:prstGeom>
          <a:ln w="1905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49808" y="3246120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F4444"/>
                </a:solidFill>
              </a:rPr>
              <a:t>INVALID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31720" y="2286000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0B981"/>
                </a:solidFill>
              </a:rPr>
              <a:t>VALID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713232"/>
            <a:ext cx="141732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7552" y="786384"/>
            <a:ext cx="127101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293B"/>
                </a:solidFill>
              </a:rPr>
              <a:t>GPT-4o mini
or rule-based
Validates relevance,
safety, intent,
urgency level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623060" y="2039112"/>
            <a:ext cx="0" cy="137160"/>
          </a:xfrm>
          <a:prstGeom prst="line">
            <a:avLst/>
          </a:prstGeom>
          <a:ln w="12700">
            <a:solidFill>
              <a:srgbClr val="C0C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2651760" y="713232"/>
            <a:ext cx="141732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24912" y="786384"/>
            <a:ext cx="127101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293B"/>
                </a:solidFill>
              </a:rPr>
              <a:t>FAISS + BM25
α=0.6/0.4 fusion
Embedding rerank
Metadata filter
k×6 candidates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360420" y="2039112"/>
            <a:ext cx="0" cy="137160"/>
          </a:xfrm>
          <a:prstGeom prst="line">
            <a:avLst/>
          </a:prstGeom>
          <a:ln w="12700">
            <a:solidFill>
              <a:srgbClr val="C0C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4389120" y="713232"/>
            <a:ext cx="141732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62272" y="786384"/>
            <a:ext cx="127101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293B"/>
                </a:solidFill>
              </a:rPr>
              <a:t>Claude Sonnet
or rule-based
Equipment focus
Query intent
Relevant incidents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097780" y="2039112"/>
            <a:ext cx="0" cy="137160"/>
          </a:xfrm>
          <a:prstGeom prst="line">
            <a:avLst/>
          </a:prstGeom>
          <a:ln w="12700">
            <a:solidFill>
              <a:srgbClr val="C0C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6126480" y="713232"/>
            <a:ext cx="146304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99632" y="786384"/>
            <a:ext cx="13167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293B"/>
                </a:solidFill>
              </a:rPr>
              <a:t>Claude Sonnet
or rule-based
Failure rate %
Reliability 0-100
Anomaly detection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858000" y="2039112"/>
            <a:ext cx="0" cy="137160"/>
          </a:xfrm>
          <a:prstGeom prst="line">
            <a:avLst/>
          </a:prstGeom>
          <a:ln w="12700">
            <a:solidFill>
              <a:srgbClr val="C0C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7909560" y="713232"/>
            <a:ext cx="146304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82712" y="786384"/>
            <a:ext cx="13167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293B"/>
                </a:solidFill>
              </a:rPr>
              <a:t>Claude Sonnet
or rule-based
Action plan
Urgency level
Preventive steps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641080" y="2039112"/>
            <a:ext cx="0" cy="137160"/>
          </a:xfrm>
          <a:prstGeom prst="line">
            <a:avLst/>
          </a:prstGeom>
          <a:ln w="12700">
            <a:solidFill>
              <a:srgbClr val="C0C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9692640" y="713232"/>
            <a:ext cx="146304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65792" y="786384"/>
            <a:ext cx="13167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293B"/>
                </a:solidFill>
              </a:rPr>
              <a:t>Claude Sonnet
or rule-based
Final synthesis
Risk + confidence
Follow-up steps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0424160" y="2039112"/>
            <a:ext cx="0" cy="137160"/>
          </a:xfrm>
          <a:prstGeom prst="line">
            <a:avLst/>
          </a:prstGeom>
          <a:ln w="12700">
            <a:solidFill>
              <a:srgbClr val="C0C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11475720" y="713232"/>
            <a:ext cx="59436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548872" y="786384"/>
            <a:ext cx="44805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293B"/>
                </a:solidFill>
              </a:rPr>
              <a:t>GPT-4o mini
or rule-based
Quality 0-100
Safety rating
clinical check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1772900" y="2039112"/>
            <a:ext cx="0" cy="137160"/>
          </a:xfrm>
          <a:prstGeom prst="line">
            <a:avLst/>
          </a:prstGeom>
          <a:ln w="12700">
            <a:solidFill>
              <a:srgbClr val="C0C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137160" y="5166360"/>
            <a:ext cx="11932920" cy="1554480"/>
          </a:xfrm>
          <a:prstGeom prst="rect">
            <a:avLst/>
          </a:prstGeom>
          <a:solidFill>
            <a:srgbClr val="FFFFFF"/>
          </a:solidFill>
          <a:ln w="152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0040" y="523036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3A5F"/>
                </a:solidFill>
              </a:rPr>
              <a:t>MedEquipState TypedDict — 17 fields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5577840"/>
            <a:ext cx="1901952" cy="347472"/>
          </a:xfrm>
          <a:prstGeom prst="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38328" y="5632703"/>
            <a:ext cx="1773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3A5F"/>
                </a:solidFill>
              </a:rPr>
              <a:t>query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249424" y="5577840"/>
            <a:ext cx="1901952" cy="347472"/>
          </a:xfrm>
          <a:prstGeom prst="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313432" y="5632703"/>
            <a:ext cx="1773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3A5F"/>
                </a:solidFill>
              </a:rPr>
              <a:t>refined_query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224528" y="5577840"/>
            <a:ext cx="1901952" cy="347472"/>
          </a:xfrm>
          <a:prstGeom prst="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88536" y="5632703"/>
            <a:ext cx="1773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3A5F"/>
                </a:solidFill>
              </a:rPr>
              <a:t>filters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99632" y="5577840"/>
            <a:ext cx="1901952" cy="347472"/>
          </a:xfrm>
          <a:prstGeom prst="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63640" y="5632703"/>
            <a:ext cx="1773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3A5F"/>
                </a:solidFill>
              </a:rPr>
              <a:t>k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174736" y="5577840"/>
            <a:ext cx="1901952" cy="347472"/>
          </a:xfrm>
          <a:prstGeom prst="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238744" y="5632703"/>
            <a:ext cx="1773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3A5F"/>
                </a:solidFill>
              </a:rPr>
              <a:t>alpha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149840" y="5577840"/>
            <a:ext cx="1901952" cy="347472"/>
          </a:xfrm>
          <a:prstGeom prst="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213848" y="5632703"/>
            <a:ext cx="1773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3A5F"/>
                </a:solidFill>
              </a:rPr>
              <a:t>input_guardrail_result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4320" y="5998464"/>
            <a:ext cx="1901952" cy="347472"/>
          </a:xfrm>
          <a:prstGeom prst="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38328" y="6053327"/>
            <a:ext cx="1773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3A5F"/>
                </a:solidFill>
              </a:rPr>
              <a:t>is_valid (router)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249424" y="5998464"/>
            <a:ext cx="1901952" cy="347472"/>
          </a:xfrm>
          <a:prstGeom prst="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313432" y="6053327"/>
            <a:ext cx="1773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3A5F"/>
                </a:solidFill>
              </a:rPr>
              <a:t>retrieved_docs[ ]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24528" y="5998464"/>
            <a:ext cx="1901952" cy="347472"/>
          </a:xfrm>
          <a:prstGeom prst="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288536" y="6053327"/>
            <a:ext cx="1773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3A5F"/>
                </a:solidFill>
              </a:rPr>
              <a:t>retrieval_result{ }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99632" y="5998464"/>
            <a:ext cx="1901952" cy="347472"/>
          </a:xfrm>
          <a:prstGeom prst="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263640" y="6053327"/>
            <a:ext cx="1773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3A5F"/>
                </a:solidFill>
              </a:rPr>
              <a:t>reliability_result{ }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174736" y="5998464"/>
            <a:ext cx="1901952" cy="347472"/>
          </a:xfrm>
          <a:prstGeom prst="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238744" y="6053327"/>
            <a:ext cx="1773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3A5F"/>
                </a:solidFill>
              </a:rPr>
              <a:t>maintenance_result{ }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149840" y="5998464"/>
            <a:ext cx="1901952" cy="347472"/>
          </a:xfrm>
          <a:prstGeom prst="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213848" y="6053327"/>
            <a:ext cx="1773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3A5F"/>
                </a:solidFill>
              </a:rPr>
              <a:t>recommendation_result{ }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74320" y="6419088"/>
            <a:ext cx="1901952" cy="347472"/>
          </a:xfrm>
          <a:prstGeom prst="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38328" y="6473951"/>
            <a:ext cx="1773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3A5F"/>
                </a:solidFill>
              </a:rPr>
              <a:t>output_guardrail_result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249424" y="6419088"/>
            <a:ext cx="1901952" cy="347472"/>
          </a:xfrm>
          <a:prstGeom prst="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313432" y="6473951"/>
            <a:ext cx="1773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3A5F"/>
                </a:solidFill>
              </a:rPr>
              <a:t>error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224528" y="6419088"/>
            <a:ext cx="1901952" cy="347472"/>
          </a:xfrm>
          <a:prstGeom prst="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288536" y="6473951"/>
            <a:ext cx="1773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3A5F"/>
                </a:solidFill>
              </a:rPr>
              <a:t>analysis_mode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199632" y="6419088"/>
            <a:ext cx="1901952" cy="347472"/>
          </a:xfrm>
          <a:prstGeom prst="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263640" y="6473951"/>
            <a:ext cx="1773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3A5F"/>
                </a:solidFill>
              </a:rPr>
              <a:t>execution_log[ ]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174736" y="6419088"/>
            <a:ext cx="1901952" cy="347472"/>
          </a:xfrm>
          <a:prstGeom prst="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238744" y="6473951"/>
            <a:ext cx="1773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3A5F"/>
                </a:solidFill>
              </a:rPr>
              <a:t>node_timings{ 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Hybrid RAG — Retrieval, Fusion &amp; Embedding Reranking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B6D4"/>
                </a:solidFill>
              </a:rPr>
              <a:t>Phase 1: FAISS vector search + BM25 keyword search  →  Phase 2: Score fusion (α=0.6/0.4)  →  Phase 3: Embedding rerank  →  Phase 4: Metadata filter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13232"/>
            <a:ext cx="3063240" cy="59436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713232"/>
            <a:ext cx="3063240" cy="5303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768096"/>
            <a:ext cx="28437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PHASE 1
Vector + Keyword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713232"/>
            <a:ext cx="2606040" cy="5943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713232"/>
            <a:ext cx="2606040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768096"/>
            <a:ext cx="23865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PHASE 2
Score Fusion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713232"/>
            <a:ext cx="3063240" cy="5943600"/>
          </a:xfrm>
          <a:prstGeom prst="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713232"/>
            <a:ext cx="3063240" cy="5303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768096"/>
            <a:ext cx="28437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PHASE 3
Embedding Rerank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64040" y="713232"/>
            <a:ext cx="2514600" cy="594360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464040" y="713232"/>
            <a:ext cx="2514600" cy="5303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73767" y="768096"/>
            <a:ext cx="2295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PHASE 4
Filter + Budget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325880"/>
            <a:ext cx="2743200" cy="2331720"/>
          </a:xfrm>
          <a:prstGeom prst="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1399032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</a:rPr>
              <a:t>FAISS Vector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1728216"/>
            <a:ext cx="25146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Model: all-MiniLM-L6-v2
Dim: 384-dimensional
Index: IndexFlatIP
(inner product = cosine
after L2 normalization)
Pool: top k×6 candidates
Score: cosine similarity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813048"/>
            <a:ext cx="2743200" cy="2331720"/>
          </a:xfrm>
          <a:prstGeom prst="rect">
            <a:avLst/>
          </a:prstGeom>
          <a:solidFill>
            <a:srgbClr val="F1F5F9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388620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BM25 Keyword 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" y="4215384"/>
            <a:ext cx="25146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Library: rank-bm25 0.2.2
Model: BM25Okapi
Tokenize: query.lower().split()
get_scores() across 10k docs
Pool: top k×6 candidates
Score: BM25 relevance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1325880"/>
            <a:ext cx="2331720" cy="5120640"/>
          </a:xfrm>
          <a:prstGeom prst="rect">
            <a:avLst/>
          </a:prstGeom>
          <a:solidFill>
            <a:srgbClr val="F1F5F9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7" y="1389888"/>
            <a:ext cx="2121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</a:rPr>
              <a:t>Score Normalization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75887" y="1700784"/>
            <a:ext cx="21214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min-max normalize both
vector and BM25 scores
to [0, 1] range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75887" y="2331720"/>
            <a:ext cx="2121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</a:rPr>
              <a:t>Fusion Formula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75887" y="2651760"/>
            <a:ext cx="2121408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67328" y="2688336"/>
            <a:ext cx="19385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6B6D4"/>
                </a:solidFill>
              </a:rPr>
              <a:t>combined =
  0.6 × v_score
+ 0.4 × b_score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75887" y="3584448"/>
            <a:ext cx="212140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Union of candidate sets
from both retrievers
Sorted descending
by combined score
Pool size: k × 6 docs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1325880"/>
            <a:ext cx="2788920" cy="777240"/>
          </a:xfrm>
          <a:prstGeom prst="rect">
            <a:avLst/>
          </a:prstGeom>
          <a:solidFill>
            <a:srgbClr val="F1F5F9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8" y="1389888"/>
            <a:ext cx="25786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① Re-encode query
   SentenceTransformer
   → unit vector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167128"/>
            <a:ext cx="2788920" cy="777240"/>
          </a:xfrm>
          <a:prstGeom prst="rect">
            <a:avLst/>
          </a:prstGeom>
          <a:solidFill>
            <a:srgbClr val="F1F5F9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64808" y="2231136"/>
            <a:ext cx="25786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② For each candidate
   cosine_sim =
   query_emb · doc_emb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3008376"/>
            <a:ext cx="2788920" cy="777240"/>
          </a:xfrm>
          <a:prstGeom prst="rect">
            <a:avLst/>
          </a:prstGeom>
          <a:solidFill>
            <a:srgbClr val="F1F5F9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3072384"/>
            <a:ext cx="25786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③ Metadata bonus
   +0.08 equip type match
   +0.06 failure type
   +0.04 hospital unit
   +0.05 failure context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3849624"/>
            <a:ext cx="2788920" cy="777240"/>
          </a:xfrm>
          <a:prstGeom prst="rect">
            <a:avLst/>
          </a:prstGeom>
          <a:solidFill>
            <a:srgbClr val="F1F5F9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64808" y="3913632"/>
            <a:ext cx="25786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④ Recency bonus
   tool_wear / 10000
   (max 0.03)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5080" y="4690872"/>
            <a:ext cx="2788920" cy="777240"/>
          </a:xfrm>
          <a:prstGeom prst="rect">
            <a:avLst/>
          </a:prstGeom>
          <a:solidFill>
            <a:srgbClr val="F1F5F9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64808" y="4754880"/>
            <a:ext cx="25786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⑤ Final score
   0.65 × cosine_sim
   + 0.25 × hybrid
   + meta + recency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5532120"/>
            <a:ext cx="2788920" cy="777240"/>
          </a:xfrm>
          <a:prstGeom prst="rect">
            <a:avLst/>
          </a:prstGeom>
          <a:solidFill>
            <a:srgbClr val="F1F5F9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64808" y="5596128"/>
            <a:ext cx="25786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⑥ Sort → top k×4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01200" y="1325880"/>
            <a:ext cx="2240280" cy="804672"/>
          </a:xfrm>
          <a:prstGeom prst="rect">
            <a:avLst/>
          </a:prstGeom>
          <a:solidFill>
            <a:srgbClr val="F1F5F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10928" y="1380744"/>
            <a:ext cx="2029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equipment_type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10928" y="1636776"/>
            <a:ext cx="2029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Exact match
(case-insensitive)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01200" y="2203704"/>
            <a:ext cx="2240280" cy="804672"/>
          </a:xfrm>
          <a:prstGeom prst="rect">
            <a:avLst/>
          </a:prstGeom>
          <a:solidFill>
            <a:srgbClr val="F1F5F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10928" y="2258568"/>
            <a:ext cx="2029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hospital_unit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10928" y="2514600"/>
            <a:ext cx="2029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Exact match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601200" y="3081528"/>
            <a:ext cx="2240280" cy="804672"/>
          </a:xfrm>
          <a:prstGeom prst="rect">
            <a:avLst/>
          </a:prstGeom>
          <a:solidFill>
            <a:srgbClr val="F1F5F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10928" y="3136392"/>
            <a:ext cx="2029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severity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10928" y="3392424"/>
            <a:ext cx="2029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Low/Medium/High/Critical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01200" y="3959352"/>
            <a:ext cx="2240280" cy="804672"/>
          </a:xfrm>
          <a:prstGeom prst="rect">
            <a:avLst/>
          </a:prstGeom>
          <a:solidFill>
            <a:srgbClr val="F1F5F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10928" y="4014215"/>
            <a:ext cx="2029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failure_only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10928" y="4270248"/>
            <a:ext cx="2029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machine_failure == 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01200" y="4837176"/>
            <a:ext cx="2240280" cy="804672"/>
          </a:xfrm>
          <a:prstGeom prst="rect">
            <a:avLst/>
          </a:prstGeom>
          <a:solidFill>
            <a:srgbClr val="F1F5F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10928" y="4892040"/>
            <a:ext cx="2029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Token Budget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10928" y="5148072"/>
            <a:ext cx="2029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max_tokens = 1200
word_count × 0.75
skip over-budget docs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01200" y="5715000"/>
            <a:ext cx="2240280" cy="804672"/>
          </a:xfrm>
          <a:prstGeom prst="rect">
            <a:avLst/>
          </a:prstGeom>
          <a:solidFill>
            <a:srgbClr val="F1F5F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710928" y="5769864"/>
            <a:ext cx="2029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Output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10928" y="6025896"/>
            <a:ext cx="2029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Top k docs with
relevance_score
document_text
+ all metadata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64408" y="3200400"/>
            <a:ext cx="237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53327" y="3200400"/>
            <a:ext cx="237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99448" y="3200400"/>
            <a:ext cx="237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6492240"/>
            <a:ext cx="11795760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6528816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Dataset: 10,000 records  ·  Embedding: all-MiniLM-L6-v2 (384-dim)  ·  Cache: faiss_index.bin + bm25.pkl + embeddings.npy + documents.pkl  ·  Candidate pool k×6 → rerank → filter → top 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Multi-Agent Equipment Intelligence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4747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6B6D4"/>
                </a:solidFill>
              </a:rPr>
              <a:t>4 AI Agents · Claude Sonnet 4.6 (with intelligent rule-based fallback) · Sequential execution via LangGraph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31520"/>
            <a:ext cx="2907792" cy="59436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731520"/>
            <a:ext cx="2907792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786384"/>
            <a:ext cx="4754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804672"/>
            <a:ext cx="22128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Equipment
Retrieval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" y="1481328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563EB"/>
                </a:solidFill>
              </a:rPr>
              <a:t>Input: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" y="1700784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Query + retrieved docs (up to 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" y="2468880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563EB"/>
                </a:solidFill>
              </a:rPr>
              <a:t>Output: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" y="2688336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relevant_incidents[]
query_intent
equipment_focus[]
hospital_units_affected
time_period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" y="3456432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563EB"/>
                </a:solidFill>
              </a:rPr>
              <a:t>Purpose: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" y="3675888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Identifies which equipment types
and hospital units are most
relevant. Filters noise from
retrieved incident pool.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" y="4443984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563EB"/>
                </a:solidFill>
              </a:rPr>
              <a:t>Fallback: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" y="4663440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Keyword matching on equipment
names; pattern extraction for
hospital units and failure types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82112" y="731520"/>
            <a:ext cx="2907792" cy="594360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82112" y="731520"/>
            <a:ext cx="2907792" cy="6583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73552" y="786384"/>
            <a:ext cx="4754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76472" y="804672"/>
            <a:ext cx="22128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Reliability
Analysis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8" y="1481328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0B981"/>
                </a:solidFill>
              </a:rPr>
              <a:t>Input: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0128" y="1700784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Query + docs + retrieval_result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10128" y="2468880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0B981"/>
                </a:solidFill>
              </a:rPr>
              <a:t>Output: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0128" y="2688336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failure_rate (%)
reliability_score (0–100)
anomalies[]
failure_patterns[]
severity_breakdown{}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0128" y="3456432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0B981"/>
                </a:solidFill>
              </a:rPr>
              <a:t>Purpose: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10128" y="3675888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Computes statistical reliability
metrics: failure rate, mean tool
wear, temperature anomaly
detection, severity distribution.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10128" y="4443984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0B981"/>
                </a:solidFill>
              </a:rPr>
              <a:t>Fallback: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0128" y="4663440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Threshold-based anomaly detection;
statistical aggregation from
raw incident data fields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81344" y="731520"/>
            <a:ext cx="2907792" cy="5943600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731520"/>
            <a:ext cx="2907792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72783" y="786384"/>
            <a:ext cx="4754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75704" y="804672"/>
            <a:ext cx="22128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Maintenance
Planning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59" y="1481328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9E0B"/>
                </a:solidFill>
              </a:rPr>
              <a:t>Input: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59" y="1700784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Query + docs + reliability_result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59" y="2468880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9E0B"/>
                </a:solidFill>
              </a:rPr>
              <a:t>Output: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59" y="2688336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immediate_actions[]
scheduled_maintenance[]
preventive_measures[]
maintenance_urgency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59" y="3456432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9E0B"/>
                </a:solidFill>
              </a:rPr>
              <a:t>Purpose: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59" y="3675888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Generates prioritised maintenance
plan with immediate vs scheduled
vs preventive actions based on
severity and failure type.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59" y="4443984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9E0B"/>
                </a:solidFill>
              </a:rPr>
              <a:t>Fallback: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59" y="4663440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Rule matrix: failure_type maps
to standard maintenance protocol;
urge level from severity field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80576" y="731520"/>
            <a:ext cx="2907792" cy="5943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80576" y="731520"/>
            <a:ext cx="2907792" cy="6583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72015" y="786384"/>
            <a:ext cx="4754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74936" y="804672"/>
            <a:ext cx="22128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Recommendation
Agent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08592" y="1481328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C3AED"/>
                </a:solidFill>
              </a:rPr>
              <a:t>Input: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08592" y="1700784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Query + docs + all 3 prior outputs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08592" y="2468880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C3AED"/>
                </a:solidFill>
              </a:rPr>
              <a:t>Output: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08592" y="2688336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summary
root_cause
confidence_score (0–100)
key_findings[]
action_plan[]
risk_assessment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08592" y="3456432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C3AED"/>
                </a:solidFill>
              </a:rPr>
              <a:t>Purpose: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08592" y="3675888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Synthesises all upstream analyses
into a final recommendation with
risk assessment, root cause,
and actionable confidence score.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08592" y="4443984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C3AED"/>
                </a:solidFill>
              </a:rPr>
              <a:t>Fallback: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08592" y="4663440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Aggregates rule-based findings;
scores confidence from doc count
+ failure count heuristic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2880" y="6492240"/>
            <a:ext cx="11795760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6528816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LangGraph StateGraph orchestration  ·  Sequential: Retrieval Agent → Reliability Agent → Maintenance Agent → Recommendation Agent  ·  State shared via MedEquipState TypedDict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Quality Assurance — Guardrails + DeepEval + LLM-as-Judge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4747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6B6D4"/>
                </a:solidFill>
              </a:rPr>
              <a:t>Three-layer QA: Input guardrail → Output guardrail → Post-hoc DeepEval evaluation + LLM-as-judge scoring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31520"/>
            <a:ext cx="3657600" cy="2697480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731520"/>
            <a:ext cx="3657600" cy="42062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🛡  INPUT GUARDRAIL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24358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9E0B"/>
                </a:solidFill>
              </a:rPr>
              <a:t>Model: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243584"/>
            <a:ext cx="24871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GPT-4o mini  (rule-based fallback)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847088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9E0B"/>
                </a:solidFill>
              </a:rPr>
              <a:t>Checks: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1847088"/>
            <a:ext cx="24871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Medical equipment relevance
Harmful pattern detection (regex)
Intent classification
Urgency: immediate / routine / 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450592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9E0B"/>
                </a:solidFill>
              </a:rPr>
              <a:t>Output: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2450592"/>
            <a:ext cx="24871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is_valid → routes pipeline
refined_query (improved version)
intent, equipment_type, urgency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054096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9E0B"/>
                </a:solidFill>
              </a:rPr>
              <a:t>Patterns: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3054096"/>
            <a:ext cx="24871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hack, exploit, bypass, disable,
ignore safety, override limit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69080" y="731520"/>
            <a:ext cx="3657600" cy="2697480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69080" y="731520"/>
            <a:ext cx="3657600" cy="42062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786384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🛡  OUTPUT 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1243584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9E0B"/>
                </a:solidFill>
              </a:rPr>
              <a:t>Model: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1243584"/>
            <a:ext cx="25420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GPT-4o mini  (rule-based fallback)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1847088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9E0B"/>
                </a:solidFill>
              </a:rPr>
              <a:t>Checks: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1847088"/>
            <a:ext cx="25420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Recommendation completeness
Clinical safety validation
Quality scoring 0–100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2450592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9E0B"/>
                </a:solidFill>
              </a:rPr>
              <a:t>Scoring: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2450592"/>
            <a:ext cx="25420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+10 ≥ 3 action items
+10 ≥ 3 key findings
+10 summary ≥ 50 chars
+10 confidence ≥ 70%
−20/−30 unsafe language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054096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9E0B"/>
                </a:solidFill>
              </a:rPr>
              <a:t>Output: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054096"/>
            <a:ext cx="25420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quality_score (0–100)
safety_rating: safe/caution/unsafe
is_safe, completeness_check{}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79" y="731520"/>
            <a:ext cx="4023360" cy="269748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55279" y="731520"/>
            <a:ext cx="4023360" cy="42062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92440" y="786384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📊  DEEPEVAL RAG METRICS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92440" y="1243584"/>
            <a:ext cx="3749039" cy="530352"/>
          </a:xfrm>
          <a:prstGeom prst="rect">
            <a:avLst/>
          </a:prstGeom>
          <a:solidFill>
            <a:srgbClr val="F1F5F9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02168" y="1289304"/>
            <a:ext cx="35295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C3AED"/>
                </a:solidFill>
              </a:rPr>
              <a:t>Answer Relevancy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02168" y="1517904"/>
            <a:ext cx="35295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Recommendation relevant to query?
Keyword overlap + entity check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92440" y="1847088"/>
            <a:ext cx="3749039" cy="530352"/>
          </a:xfrm>
          <a:prstGeom prst="rect">
            <a:avLst/>
          </a:prstGeom>
          <a:solidFill>
            <a:srgbClr val="F1F5F9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02168" y="1892807"/>
            <a:ext cx="35295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C3AED"/>
                </a:solidFill>
              </a:rPr>
              <a:t>Faithfulness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02168" y="2121408"/>
            <a:ext cx="35295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Answer grounded in retrieved context?
Entity traceability scoring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92440" y="2450592"/>
            <a:ext cx="3749039" cy="530352"/>
          </a:xfrm>
          <a:prstGeom prst="rect">
            <a:avLst/>
          </a:prstGeom>
          <a:solidFill>
            <a:srgbClr val="F1F5F9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02168" y="2496312"/>
            <a:ext cx="35295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C3AED"/>
                </a:solidFill>
              </a:rPr>
              <a:t>Contextual Precision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02168" y="2724912"/>
            <a:ext cx="35295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Top docs more relevant than lower?
Precision@k ordering check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92440" y="3054096"/>
            <a:ext cx="3749039" cy="530352"/>
          </a:xfrm>
          <a:prstGeom prst="rect">
            <a:avLst/>
          </a:prstGeom>
          <a:solidFill>
            <a:srgbClr val="F1F5F9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02168" y="3099816"/>
            <a:ext cx="35295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C3AED"/>
                </a:solidFill>
              </a:rPr>
              <a:t>Contextual Recall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02168" y="3328416"/>
            <a:ext cx="35295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Context covers all answer facts?
Fact extraction + lookup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2880" y="3566160"/>
            <a:ext cx="11795760" cy="3090672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82880" y="3566160"/>
            <a:ext cx="11795760" cy="42062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7472" y="3621024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⚖  LLM-as-Judge — 4-Dimension Rubric  (Total: 0 – 100)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4078224"/>
            <a:ext cx="2852928" cy="2450592"/>
          </a:xfrm>
          <a:prstGeom prst="rect">
            <a:avLst/>
          </a:prstGeom>
          <a:solidFill>
            <a:srgbClr val="F1F5F9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9768" y="4151376"/>
            <a:ext cx="26334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F4444"/>
                </a:solidFill>
              </a:rPr>
              <a:t>Clinical Safety
(0 – 25)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9768" y="4645152"/>
            <a:ext cx="26334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Are recommendations safe for patients and hospital staff?
25: All actions clinically safe; hazardous equipment flagged for shutdown
0 : Recommendation could endanger patients (e.g. continue using failed equipment)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82696" y="4078224"/>
            <a:ext cx="2852928" cy="2450592"/>
          </a:xfrm>
          <a:prstGeom prst="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92424" y="4151376"/>
            <a:ext cx="26334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563EB"/>
                </a:solidFill>
              </a:rPr>
              <a:t>Technical Accuracy
(0 – 25)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92424" y="4645152"/>
            <a:ext cx="26334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Are technical details correct and evidence-based?
25: Temperatures, torque, wear values correctly cited from retrieved incidents
0 : Technical claims fabricated or contradict the retrieved incident data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45352" y="4078224"/>
            <a:ext cx="2852928" cy="2450592"/>
          </a:xfrm>
          <a:prstGeom prst="rect">
            <a:avLst/>
          </a:prstGeom>
          <a:solidFill>
            <a:srgbClr val="F1F5F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55080" y="4151376"/>
            <a:ext cx="26334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</a:rPr>
              <a:t>Actionability
(0 – 25)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5080" y="4645152"/>
            <a:ext cx="26334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Are recommended actions concrete and immediately implementable?
25: Specific, prioritised steps that biomedical engineers can act on now
0 : Vague or contradictory actions that cannot be carried out in practice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08008" y="4078224"/>
            <a:ext cx="2852928" cy="2450592"/>
          </a:xfrm>
          <a:prstGeom prst="rect">
            <a:avLst/>
          </a:prstGeom>
          <a:solidFill>
            <a:srgbClr val="F1F5F9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17736" y="4151376"/>
            <a:ext cx="26334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9E0B"/>
                </a:solidFill>
              </a:rPr>
              <a:t>Evidence Basis
(0 – 25)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17736" y="4645152"/>
            <a:ext cx="26334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Is the recommendation grounded in retrieved incidents?
25: All claims traceable to specific incidents; no hallucinated data
0 : Ignores retrieved incidents entirely or contradicts the evidence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7472" y="6492240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Judge priority order:  GPT-4o mini  →  Claude Sonnet 4.6  →  Rule-based scoring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Dataset Architecture — UCI AI4I 2020 → Medical Equipment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4747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6B6D4"/>
                </a:solidFill>
              </a:rPr>
              <a:t>data_ingestion.py pipeline: Generate ai4i2020.csv (UCI schema) → Enrich with medical context → Build RAG index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05840"/>
            <a:ext cx="2743200" cy="1737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0896" y="1078992"/>
            <a:ext cx="24871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ai4i2020.csv
(UCI Schema)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" y="1609344"/>
            <a:ext cx="248716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10,000 rows × 14 cols
UCI ML Repository format
Statistical distributions
matching real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691640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005840"/>
            <a:ext cx="2743200" cy="1737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74136" y="1078992"/>
            <a:ext cx="24871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data_ingestion.py
(Mapping)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74136" y="1609344"/>
            <a:ext cx="248716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Step 1: Generate UCI CSV
Step 2: Map Type→Equipment
Step 3: Add medical context
Step 4: Save both CSVs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691640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005840"/>
            <a:ext cx="2743200" cy="1737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078992"/>
            <a:ext cx="24871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medical_equipment
_maintenance.csv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1609344"/>
            <a:ext cx="248716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10,000 rows × 32 cols
All UCI cols retained
+ 18 medical context cols
RAG-ready with full 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691640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72600" y="1005840"/>
            <a:ext cx="2743200" cy="1737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0616" y="1078992"/>
            <a:ext cx="24871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RAG Index
(Cached)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0616" y="1609344"/>
            <a:ext cx="248716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FAISS: 10k × 384-dim
BM25: tokenised corpus
Embeddings: .npy file
Documents: .pkl cache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2926080"/>
            <a:ext cx="5669280" cy="3749039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999232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ai4i2020.csv — Exact UCI Schema (14 columns)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338328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563EB"/>
                </a:solidFill>
              </a:rPr>
              <a:t>UDI: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3383280"/>
            <a:ext cx="1261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Record index 1–10,000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0672" y="338328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563EB"/>
                </a:solidFill>
              </a:rPr>
              <a:t>Product ID: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3383280"/>
            <a:ext cx="1261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L/M/H prefix + 5-digit num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" y="376732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563EB"/>
                </a:solidFill>
              </a:rPr>
              <a:t>Type: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3767328"/>
            <a:ext cx="1261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L=50%  M=30%  H=20%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90672" y="376732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563EB"/>
                </a:solidFill>
              </a:rPr>
              <a:t>Air temperature [K]: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3767328"/>
            <a:ext cx="1261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~300K, std 2K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" y="4151376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563EB"/>
                </a:solidFill>
              </a:rPr>
              <a:t>Process temperature [K]: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83080" y="4151376"/>
            <a:ext cx="1261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Air temp + ~10K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90672" y="4151376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563EB"/>
                </a:solidFill>
              </a:rPr>
              <a:t>Rotational speed [rpm]: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4151376"/>
            <a:ext cx="1261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~1500 rpm, std 200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" y="453542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563EB"/>
                </a:solidFill>
              </a:rPr>
              <a:t>Torque [Nm]: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83080" y="4535424"/>
            <a:ext cx="1261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~40 Nm, std 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90672" y="453542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563EB"/>
                </a:solidFill>
              </a:rPr>
              <a:t>Tool wear [min]: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80" y="4535424"/>
            <a:ext cx="1261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0–253 min (uniform)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" y="491947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563EB"/>
                </a:solidFill>
              </a:rPr>
              <a:t>Machine failure: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83080" y="4919472"/>
            <a:ext cx="1261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1 = failed (~1.9%)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90672" y="491947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563EB"/>
                </a:solidFill>
              </a:rPr>
              <a:t>TWF: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26280" y="4919472"/>
            <a:ext cx="1261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Tool Wear Failure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" y="530352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563EB"/>
                </a:solidFill>
              </a:rPr>
              <a:t>HDF: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83080" y="5303520"/>
            <a:ext cx="1261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Heat Dissipation Failure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90672" y="530352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563EB"/>
                </a:solidFill>
              </a:rPr>
              <a:t>PWF: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26280" y="5303520"/>
            <a:ext cx="1261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Power Failure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7472" y="568756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563EB"/>
                </a:solidFill>
              </a:rPr>
              <a:t>OSF: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83080" y="5687568"/>
            <a:ext cx="1261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Overstrain Failure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90672" y="568756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563EB"/>
                </a:solidFill>
              </a:rPr>
              <a:t>RNF: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26280" y="5687568"/>
            <a:ext cx="1261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Random Failure (~0.1%)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2926080"/>
            <a:ext cx="5943600" cy="3749039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72200" y="2999232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Medical Equipment Mapping  (data_ingestion.py)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72200" y="338328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0B981"/>
                </a:solidFill>
              </a:rPr>
              <a:t>Type L (50%):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30768" y="3383280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→ Ventilator, Infusion Pump, Patient Monitor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37490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0B981"/>
                </a:solidFill>
              </a:rPr>
              <a:t>Type M (30%):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30768" y="3749040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→ Ultrasound, ICU Device, Lab Analyzer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72200" y="411480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0B981"/>
                </a:solidFill>
              </a:rPr>
              <a:t>Type H (20%):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30768" y="4114800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→ MRI, CT Scanner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72200" y="448056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0B981"/>
                </a:solidFill>
              </a:rPr>
              <a:t>TWF / HDF / PWF / OSF / RNF: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30768" y="4480560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→ failure_type (human-readable string)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72200" y="484632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0B981"/>
                </a:solidFill>
              </a:rPr>
              <a:t>UDI mod len(options):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30768" y="4846320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→ equipment_id  (e.g. MRI001, VEN002)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72200" y="521208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0B981"/>
                </a:solidFill>
              </a:rPr>
              <a:t>Equipment type: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30768" y="5212080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→ hospital_unit  (e.g. Radiology, ICU)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72200" y="55778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0B981"/>
                </a:solidFill>
              </a:rPr>
              <a:t>Machine failure + severity: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30768" y="5577840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→ downtime_hours, maintenance_cost_usd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72200" y="594360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0B981"/>
                </a:solidFill>
              </a:rPr>
              <a:t>Technician notes: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30768" y="5943600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5 categories × 4 templates each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72200" y="630936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0B981"/>
                </a:solidFill>
              </a:rPr>
              <a:t>Timestamps: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430768" y="6309360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2023-01-01 → 2024-12-31  (random)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72200" y="667512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0B981"/>
                </a:solidFill>
              </a:rPr>
              <a:t>Total output cols: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30768" y="6675120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32 columns  (14 UCI + 18 enriched)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4747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</a:rPr>
              <a:t>All libraries, versions and roles in the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49808"/>
            <a:ext cx="3749039" cy="283464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749808"/>
            <a:ext cx="3749039" cy="4023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813815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43584"/>
            <a:ext cx="347472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289304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</a:rPr>
              <a:t>React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289304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UI component framework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82495"/>
            <a:ext cx="347472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728216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</a:rPr>
              <a:t>Vite 8.0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93392" y="1728216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Build tool &amp; dev server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121408"/>
            <a:ext cx="347472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2167127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</a:rPr>
              <a:t>Recharts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93392" y="2167127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BarChart, LineChart, PieChart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560320"/>
            <a:ext cx="347472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2606039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</a:rPr>
              <a:t>Axios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93392" y="2606039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HTTP client for API calls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999232"/>
            <a:ext cx="347472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3044951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</a:rPr>
              <a:t>CSS Grid / Flex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93392" y="3044951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Responsive layout system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749808"/>
            <a:ext cx="3749039" cy="2834640"/>
          </a:xfrm>
          <a:prstGeom prst="rect">
            <a:avLst/>
          </a:prstGeom>
          <a:solidFill>
            <a:srgbClr val="FFFFFF"/>
          </a:solidFill>
          <a:ln w="152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60520" y="749808"/>
            <a:ext cx="3749039" cy="40233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813815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1243584"/>
            <a:ext cx="347472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16552" y="1289304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3A5F"/>
                </a:solidFill>
              </a:rPr>
              <a:t>FastAPI 0.104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71031" y="1289304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REST API framework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1682495"/>
            <a:ext cx="347472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16552" y="1728216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3A5F"/>
                </a:solidFill>
              </a:rPr>
              <a:t>Uvicorn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71031" y="1728216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ASGI server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2121408"/>
            <a:ext cx="347472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16552" y="2167127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3A5F"/>
                </a:solidFill>
              </a:rPr>
              <a:t>Pydantic v2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71031" y="2167127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Request / response models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2560320"/>
            <a:ext cx="347472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16552" y="2606039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3A5F"/>
                </a:solidFill>
              </a:rPr>
              <a:t>pandas 2.1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71031" y="2606039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DataFrame operations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97680" y="2999232"/>
            <a:ext cx="347472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16552" y="3044951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3A5F"/>
                </a:solidFill>
              </a:rPr>
              <a:t>numpy 1.26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71031" y="3044951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Embedding arithmetic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38159" y="749808"/>
            <a:ext cx="3749039" cy="28346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38159" y="749808"/>
            <a:ext cx="3749039" cy="40233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5319" y="813815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AI / LLM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75319" y="1243584"/>
            <a:ext cx="347472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94191" y="1289304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C3AED"/>
                </a:solidFill>
              </a:rPr>
              <a:t>Claude Sonnet 4.6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48672" y="1289304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4 AI analysis agents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75319" y="1682495"/>
            <a:ext cx="347472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94191" y="1728216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C3AED"/>
                </a:solidFill>
              </a:rPr>
              <a:t>GPT-4o mini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48672" y="1728216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Input + output guardrails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75319" y="2121408"/>
            <a:ext cx="347472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94191" y="2167127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C3AED"/>
                </a:solidFill>
              </a:rPr>
              <a:t>anthropic ≥0.25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48672" y="2167127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Anthropic API client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75319" y="2560320"/>
            <a:ext cx="347472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94191" y="2606039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C3AED"/>
                </a:solidFill>
              </a:rPr>
              <a:t>openai ≥2.0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48672" y="2606039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OpenAI API client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75319" y="2999232"/>
            <a:ext cx="347472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94191" y="3044951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C3AED"/>
                </a:solidFill>
              </a:rPr>
              <a:t>LangGraph 1.2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48672" y="3044951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StateGraph multi-agent pipeline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82880" y="3749039"/>
            <a:ext cx="3749039" cy="283464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82880" y="3749039"/>
            <a:ext cx="3749039" cy="4023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3813048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RAG / SEARCH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" y="4242816"/>
            <a:ext cx="347472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8912" y="4288536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B981"/>
                </a:solidFill>
              </a:rPr>
              <a:t>FAISS-CPU 1.7.4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93392" y="4288536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Vector similarity index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4681727"/>
            <a:ext cx="347472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38912" y="4727447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B981"/>
                </a:solidFill>
              </a:rPr>
              <a:t>sentence-transformers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993392" y="4727447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all-MiniLM-L6-v2 embeddings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0040" y="5120640"/>
            <a:ext cx="347472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38912" y="5166359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B981"/>
                </a:solidFill>
              </a:rPr>
              <a:t>rank-bm25 0.2.2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993392" y="5166359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BM25Okapi keyword search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" y="5559552"/>
            <a:ext cx="347472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38912" y="5605272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B981"/>
                </a:solidFill>
              </a:rPr>
              <a:t>scikit-learn 1.3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993392" y="5605272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ML utilities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20040" y="5998464"/>
            <a:ext cx="347472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38912" y="6044184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B981"/>
                </a:solidFill>
              </a:rPr>
              <a:t>numpy (embeddings.npy)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993392" y="6044184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Reranking embedding cache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160520" y="3749039"/>
            <a:ext cx="3749039" cy="2834640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160520" y="3749039"/>
            <a:ext cx="3749039" cy="4023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297680" y="3813048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EVALUATION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297680" y="4242816"/>
            <a:ext cx="347472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416552" y="4288536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</a:rPr>
              <a:t>DeepEval 4.0.5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971031" y="4288536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RAG quality metrics library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297680" y="4681727"/>
            <a:ext cx="347472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416552" y="4727447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</a:rPr>
              <a:t>LLM-as-Judge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971031" y="4727447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4-dimension rubric scoring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297680" y="5120640"/>
            <a:ext cx="347472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416552" y="5166359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</a:rPr>
              <a:t>AnswerRelevancy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971031" y="5166359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DeepEval metric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297680" y="5559552"/>
            <a:ext cx="347472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416552" y="5605272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</a:rPr>
              <a:t>Faithfulness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971031" y="5605272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DeepEval metric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297680" y="5998464"/>
            <a:ext cx="347472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416552" y="6044184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</a:rPr>
              <a:t>Contextual metrics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971031" y="6044184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Precision + Recall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138159" y="3749039"/>
            <a:ext cx="3749039" cy="2834640"/>
          </a:xfrm>
          <a:prstGeom prst="rect">
            <a:avLst/>
          </a:prstGeom>
          <a:solidFill>
            <a:srgbClr val="FFFFFF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138159" y="3749039"/>
            <a:ext cx="3749039" cy="4023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275319" y="3813048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275319" y="4242816"/>
            <a:ext cx="347472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394191" y="4288536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6B6D4"/>
                </a:solidFill>
              </a:rPr>
              <a:t>ai4i2020.csv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948672" y="4288536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UCI AI4I 2020 (10k rows)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275319" y="4681727"/>
            <a:ext cx="347472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394191" y="4727447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6B6D4"/>
                </a:solidFill>
              </a:rPr>
              <a:t>medical_equip_maint.csv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948672" y="4727447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Enriched (32 cols)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275319" y="5120640"/>
            <a:ext cx="347472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394191" y="5166359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6B6D4"/>
                </a:solidFill>
              </a:rPr>
              <a:t>faiss_index.bin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948672" y="5166359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15 MB FAISS index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275319" y="5559552"/>
            <a:ext cx="347472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394191" y="5605272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6B6D4"/>
                </a:solidFill>
              </a:rPr>
              <a:t>embeddings.npy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948672" y="5605272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10k × 384-dim float32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275319" y="5998464"/>
            <a:ext cx="347472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394191" y="6044184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6B6D4"/>
                </a:solidFill>
              </a:rPr>
              <a:t>bm25.pkl + documents.pkl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948672" y="6044184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BM25 + doc text cache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3A5F"/>
                </a:solidFill>
              </a:rPr>
              <a:t>End-to-End Data Flow — User Query to Recommendation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749808"/>
            <a:ext cx="438912" cy="5120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822959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749808"/>
            <a:ext cx="11247120" cy="512064"/>
          </a:xfrm>
          <a:prstGeom prst="rect">
            <a:avLst/>
          </a:prstGeom>
          <a:solidFill>
            <a:srgbClr val="263750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786384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</a:rPr>
              <a:t>User types query in React AI Assistant chat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024127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8CADF"/>
                </a:solidFill>
              </a:rPr>
              <a:t>e.g.  'Critical MRI overheating failure in Radiology unit — recommend maintenance steps'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408176"/>
            <a:ext cx="438912" cy="5120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1481328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1408176"/>
            <a:ext cx="11247120" cy="512064"/>
          </a:xfrm>
          <a:prstGeom prst="rect">
            <a:avLst/>
          </a:prstGeom>
          <a:solidFill>
            <a:srgbClr val="263750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14447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Axios POST /api/query  →  FastAPI endpoint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1682496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8CADF"/>
                </a:solidFill>
              </a:rPr>
              <a:t>Payload: { query, k=5, alpha=0.6, equipment_type?, hospital_unit?, severity?, failure_only? 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2066543"/>
            <a:ext cx="438912" cy="5120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2139696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2066543"/>
            <a:ext cx="11247120" cy="512064"/>
          </a:xfrm>
          <a:prstGeom prst="rect">
            <a:avLst/>
          </a:prstGeom>
          <a:solidFill>
            <a:srgbClr val="263750"/>
          </a:solidFill>
          <a:ln w="152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2103120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3A5F"/>
                </a:solidFill>
              </a:rPr>
              <a:t>FastAPI calls run_langgraph_pipeline()  →  pipeline.invoke(MedEquipState)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2340863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8CADF"/>
                </a:solidFill>
              </a:rPr>
              <a:t>Initial state: 17 fields initialised — query, filters, k, alpha; is_valid=False; logs=[]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2724912"/>
            <a:ext cx="438912" cy="5120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" y="2798064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2724912"/>
            <a:ext cx="11247120" cy="512064"/>
          </a:xfrm>
          <a:prstGeom prst="rect">
            <a:avLst/>
          </a:prstGeom>
          <a:solidFill>
            <a:srgbClr val="263750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2761488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node_input_guardrail()  →  GPT-4o mini / rule-based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2999232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8CADF"/>
                </a:solidFill>
              </a:rPr>
              <a:t>Returns: is_valid=True/False, intent='failure_analysis', urgency='immediate', refined_query='…'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3383279"/>
            <a:ext cx="438912" cy="5120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" y="3456432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3383279"/>
            <a:ext cx="11247120" cy="512064"/>
          </a:xfrm>
          <a:prstGeom prst="rect">
            <a:avLst/>
          </a:prstGeom>
          <a:solidFill>
            <a:srgbClr val="263750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3419856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node_rag_retrieval()  →  Hybrid FAISS + BM25 + Embedding Rerank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657599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8CADF"/>
                </a:solidFill>
              </a:rPr>
              <a:t>Returns: retrieved_docs[k]  each with  relevance_score, document_text, equipment_id, failure_type, 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4041648"/>
            <a:ext cx="438912" cy="5120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0" y="4114800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4041648"/>
            <a:ext cx="11247120" cy="512064"/>
          </a:xfrm>
          <a:prstGeom prst="rect">
            <a:avLst/>
          </a:prstGeom>
          <a:solidFill>
            <a:srgbClr val="263750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" y="4078224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</a:rPr>
              <a:t>4 × Agent nodes  →  Claude Sonnet 4.6 / rule-based  (sequential via LangGraph edges)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" y="4315968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8CADF"/>
                </a:solidFill>
              </a:rPr>
              <a:t>Retrieval → Reliability → Maintenance → Recommendation.  Each reads state and writes its result back.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4700016"/>
            <a:ext cx="438912" cy="5120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2880" y="4773168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232" y="4700016"/>
            <a:ext cx="11247120" cy="512064"/>
          </a:xfrm>
          <a:prstGeom prst="rect">
            <a:avLst/>
          </a:prstGeom>
          <a:solidFill>
            <a:srgbClr val="263750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536" y="473659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node_output_guardrail()  →  GPT-4o mini / rule-based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" y="4974336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8CADF"/>
                </a:solidFill>
              </a:rPr>
              <a:t>Returns: quality_score (0-100), safety_rating='safe/caution/unsafe', approved_recommendation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2880" y="5358384"/>
            <a:ext cx="438912" cy="5120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2880" y="5431536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3232" y="5358384"/>
            <a:ext cx="11247120" cy="512064"/>
          </a:xfrm>
          <a:prstGeom prst="rect">
            <a:avLst/>
          </a:prstGeom>
          <a:solidFill>
            <a:srgbClr val="263750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9536" y="5394960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</a:rPr>
              <a:t>FastAPI maps final LangGraph state → QueryResponse JSON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" y="5632704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8CADF"/>
                </a:solidFill>
              </a:rPr>
              <a:t>agent_analysis, guardrails{input+output}, pipeline_log[], node_timings{}, refined_query, processing_time_ms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" y="6016752"/>
            <a:ext cx="438912" cy="5120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82880" y="6089904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3232" y="6016752"/>
            <a:ext cx="11247120" cy="512064"/>
          </a:xfrm>
          <a:prstGeom prst="rect">
            <a:avLst/>
          </a:prstGeom>
          <a:solidFill>
            <a:srgbClr val="263750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9536" y="6053328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React renders AssistantMessage component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" y="6291072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8CADF"/>
                </a:solidFill>
              </a:rPr>
              <a:t>GuardrailBadges + RefinedQueryNote + PipelineLog + KeyFindings + ActionPlan + ScoreCircle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Requirement Coverage — All Items Implemented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4747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6B6D4"/>
                </a:solidFill>
              </a:rPr>
              <a:t>Requirement 1 (Basic)  +  Requirement 2 (Advanced)  +  Multi-Agent System  +  Frontend — fully implemented &amp; verified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49808"/>
            <a:ext cx="5577840" cy="54864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✅  REQUIREMENT 1 — Basic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43584"/>
            <a:ext cx="5303520" cy="493776"/>
          </a:xfrm>
          <a:prstGeom prst="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074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563EB"/>
                </a:solidFill>
              </a:rPr>
              <a:t>✓  Basic RAG incident retrieval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99616"/>
            <a:ext cx="5074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FAISS IndexFlatIP · all-MiniLM-L6-v2 · 10,000 records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83080"/>
            <a:ext cx="5303520" cy="493776"/>
          </a:xfrm>
          <a:prstGeom prst="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19656"/>
            <a:ext cx="5074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563EB"/>
                </a:solidFill>
              </a:rPr>
              <a:t>✓  Hybrid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39112"/>
            <a:ext cx="5074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FAISS α=0.6 + BM25Okapi α=0.4 · normalised score fusion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22576"/>
            <a:ext cx="5303520" cy="493776"/>
          </a:xfrm>
          <a:prstGeom prst="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359152"/>
            <a:ext cx="5074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563EB"/>
                </a:solidFill>
              </a:rPr>
              <a:t>✓  Semantic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78608"/>
            <a:ext cx="5074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384-dim sentence embeddings · cosine similarity · cached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862072"/>
            <a:ext cx="5303520" cy="493776"/>
          </a:xfrm>
          <a:prstGeom prst="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898648"/>
            <a:ext cx="5074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563EB"/>
                </a:solidFill>
              </a:rPr>
              <a:t>✓  Metadata filtering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118104"/>
            <a:ext cx="5074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equipment_type, hospital_unit, severity, failure_only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401568"/>
            <a:ext cx="5303520" cy="493776"/>
          </a:xfrm>
          <a:prstGeom prst="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438144"/>
            <a:ext cx="5074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563EB"/>
                </a:solidFill>
              </a:rPr>
              <a:t>✓  Root-cause recommendation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657600"/>
            <a:ext cx="5074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recommendation_agent synthesises all 4 agent outputs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941063"/>
            <a:ext cx="5303520" cy="493776"/>
          </a:xfrm>
          <a:prstGeom prst="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977639"/>
            <a:ext cx="5074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563EB"/>
                </a:solidFill>
              </a:rPr>
              <a:t>✓  Input validation guardrails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197096"/>
            <a:ext cx="5074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GPT-4o mini + rule-based fallback in guardrails.py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480559"/>
            <a:ext cx="5303520" cy="493776"/>
          </a:xfrm>
          <a:prstGeom prst="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517136"/>
            <a:ext cx="5074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563EB"/>
                </a:solidFill>
              </a:rPr>
              <a:t>✓  Incident similarity ranking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736592"/>
            <a:ext cx="5074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3-phase: hybrid → embedding rerank → metadata filter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020055"/>
            <a:ext cx="5303520" cy="493776"/>
          </a:xfrm>
          <a:prstGeom prst="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056631"/>
            <a:ext cx="5074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563EB"/>
                </a:solidFill>
              </a:rPr>
              <a:t>✓  Maintenance recommendations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276088"/>
            <a:ext cx="5074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maintenance_agent · prioritised action plans + urgency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559551"/>
            <a:ext cx="5303520" cy="493776"/>
          </a:xfrm>
          <a:prstGeom prst="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96127"/>
            <a:ext cx="5074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563EB"/>
                </a:solidFill>
              </a:rPr>
              <a:t>✓  API endpoints for integrations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815583"/>
            <a:ext cx="5074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12 REST endpoints via FastAPI with Pydantic validation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749808"/>
            <a:ext cx="5943600" cy="54864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822960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✅  REQUIREMENT 2 — Advanced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1243584"/>
            <a:ext cx="5669280" cy="493776"/>
          </a:xfrm>
          <a:prstGeom prst="rect">
            <a:avLst/>
          </a:prstGeom>
          <a:solidFill>
            <a:srgbClr val="F1F5F9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1280160"/>
            <a:ext cx="5440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C3AED"/>
                </a:solidFill>
              </a:rPr>
              <a:t>✓  DeepEval evaluation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1499616"/>
            <a:ext cx="5440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evaluation.py · 4 metrics: AnswerRelevancy, Faithfulness,
ContextualPrecision, ContextualRecall · /api/evaluate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1737360"/>
            <a:ext cx="5669280" cy="493776"/>
          </a:xfrm>
          <a:prstGeom prst="rect">
            <a:avLst/>
          </a:prstGeom>
          <a:solidFill>
            <a:srgbClr val="F1F5F9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1773936"/>
            <a:ext cx="5440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C3AED"/>
                </a:solidFill>
              </a:rPr>
              <a:t>✓  Anomaly correlation analysis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1993392"/>
            <a:ext cx="5440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/api/analyze/anomaly · temp + wear + RPM
threshold anomaly detection with correlation report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2231136"/>
            <a:ext cx="5669280" cy="493776"/>
          </a:xfrm>
          <a:prstGeom prst="rect">
            <a:avLst/>
          </a:prstGeom>
          <a:solidFill>
            <a:srgbClr val="F1F5F9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2267712"/>
            <a:ext cx="5440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C3AED"/>
                </a:solidFill>
              </a:rPr>
              <a:t>✓  Reranking (maintenance embs)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2487168"/>
            <a:ext cx="5440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rag_system.rerank() · cosine_sim + metadata bonus
+ recency · 3-phase pipeline in hybrid_search()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72200" y="2724912"/>
            <a:ext cx="5669280" cy="493776"/>
          </a:xfrm>
          <a:prstGeom prst="rect">
            <a:avLst/>
          </a:prstGeom>
          <a:solidFill>
            <a:srgbClr val="F1F5F9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2761488"/>
            <a:ext cx="5440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C3AED"/>
                </a:solidFill>
              </a:rPr>
              <a:t>✓  LLM-as-judge validation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2980944"/>
            <a:ext cx="5440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llm_judge.py · 4-dim rubric 0–100
(Safety/Accuracy/Actionability/Evidence) · /api/judge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72200" y="3218688"/>
            <a:ext cx="5669280" cy="493776"/>
          </a:xfrm>
          <a:prstGeom prst="rect">
            <a:avLst/>
          </a:prstGeom>
          <a:solidFill>
            <a:srgbClr val="F1F5F9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3255264"/>
            <a:ext cx="5440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C3AED"/>
                </a:solidFill>
              </a:rPr>
              <a:t>✓  Token optimization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3474720"/>
            <a:ext cx="5440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_approx_tokens() word-count budget · max_tokens per
agent (800-1500) · context truncation in get_context()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72200" y="3712464"/>
            <a:ext cx="5669280" cy="493776"/>
          </a:xfrm>
          <a:prstGeom prst="rect">
            <a:avLst/>
          </a:prstGeom>
          <a:solidFill>
            <a:srgbClr val="F1F5F9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09360" y="3749040"/>
            <a:ext cx="5440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C3AED"/>
                </a:solidFill>
              </a:rPr>
              <a:t>✓  Equipment Retrieval Agent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60" y="3968496"/>
            <a:ext cx="5440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Identifies relevant equipment + query intent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72200" y="4206240"/>
            <a:ext cx="5669280" cy="493776"/>
          </a:xfrm>
          <a:prstGeom prst="rect">
            <a:avLst/>
          </a:prstGeom>
          <a:solidFill>
            <a:srgbClr val="F1F5F9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09360" y="4242816"/>
            <a:ext cx="5440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C3AED"/>
                </a:solidFill>
              </a:rPr>
              <a:t>✓  Reliability Analysis Agent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9360" y="4462272"/>
            <a:ext cx="5440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Failure rate, reliability score 0-100, anomalies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72200" y="4700016"/>
            <a:ext cx="5669280" cy="493776"/>
          </a:xfrm>
          <a:prstGeom prst="rect">
            <a:avLst/>
          </a:prstGeom>
          <a:solidFill>
            <a:srgbClr val="F1F5F9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09360" y="4736592"/>
            <a:ext cx="5440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C3AED"/>
                </a:solidFill>
              </a:rPr>
              <a:t>✓  Maintenance Planning Agent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09360" y="4956048"/>
            <a:ext cx="5440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Prioritised actions, urgency, preventive measures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72200" y="5193792"/>
            <a:ext cx="5669280" cy="493776"/>
          </a:xfrm>
          <a:prstGeom prst="rect">
            <a:avLst/>
          </a:prstGeom>
          <a:solidFill>
            <a:srgbClr val="F1F5F9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09360" y="5230368"/>
            <a:ext cx="5440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C3AED"/>
                </a:solidFill>
              </a:rPr>
              <a:t>✓  Recommendation Agent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09360" y="5449824"/>
            <a:ext cx="5440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Final synthesis, confidence score, root cause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72200" y="5687568"/>
            <a:ext cx="5669280" cy="493776"/>
          </a:xfrm>
          <a:prstGeom prst="rect">
            <a:avLst/>
          </a:prstGeom>
          <a:solidFill>
            <a:srgbClr val="F1F5F9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09360" y="5724144"/>
            <a:ext cx="5440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C3AED"/>
                </a:solidFill>
              </a:rPr>
              <a:t>✓  Frontend interface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09360" y="5943600"/>
            <a:ext cx="5440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6-view React app · chat, dashboard, evaluation,
pipeline, anomaly detection, maintenance records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6355080"/>
            <a:ext cx="1179576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5760" y="640080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Stack: FastAPI · LangGraph 1.2 · DeepEval 4.0 · FAISS · BM25 · sentence-transformers · Claude Sonnet 4.6 · GPT-4o mini · React 18 · UCI AI4I 2020 (10,000 records)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